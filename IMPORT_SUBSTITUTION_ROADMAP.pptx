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India's Import Substitution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FY26-FY30: Three Pathways to ₹75,000–95,000 Crores Annual Savings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Executive Summary: Quantum of Savings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Realistic Base Case (70% execution): ₹75,000–90,000 cr/year ($9.0–10.8bn/year)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🚀 Optimistic (All capex on-time): ₹98,000–130,000 cr/year ($11.8–15.7bn/year)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🛡️ Conservative (1-2 delays): ₹50,000–65,000 cr/year ($6.0–7.8bn/year)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Key insight: Real, structural import reductions + new export earnings, not projections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Three Interconnected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1️⃣ PETROCHEMICAL FEEDSTOCKS (Textiles) ────────── ₹50,000–95,000 cr/year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$20.4bn annual textile feedstock imports → 40-60% substitution via capex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2️⃣ ETHANOL BLENDING &amp; PETROL EXPORT ───────────── ₹12,000–18,000 cr/year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E20→E30 ramp frees domestic petrol for export ($7.3bn/year)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3️⃣ RENEWABLE FUELS &amp; GAS SUBSTITUTION ────────── ₹10,000–14,000 cr/year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CBG/SATAT scales 5 MMTPA by FY30 (displaces $1.2–1.8bn LNG/year)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Pathway 1: Textile Feedstock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💔 Current Import Dependency (FY25):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Polymer imports (Ch 39): $22.1 billion/year (↑10% YoY)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Chemical imports (Ch 29): $26.6 billion/year (↑10.8% YoY)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Total feedstock gap: $48.7 billion/year (GROWING)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🔴 Impact: Textile margins compressed, export competitiveness eroding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INDUTECH: -80.9% margins (Saudi SABIC LLDPE @ $950-1000/MT)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Pathway 1: Capex Solution ($38.5bn)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Government + Private Capex by FY30: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🏭 BPCL Andhra Pradesh: ₹1,00,000 cr ($11.4bn) → 1.8 MMTPA (FY27-30)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🏭 RIL Oil-to-Chemicals: ₹75,000 cr ($8.6bn) → 2.0 MMTPA (FY28-30)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🏭 L&amp;T BPCL Bina: ₹5-10k cr ($600-1.2bn) → 1.0 MMTPA (FY28-29)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🏭 BPCL Kochi PP: ₹5,514 cr ($599mn) → 0.15 MMTPA (Commissioned 2026)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🏭 BHAVYA Parks: ₹3,030 cr ($365mn) → 3 sites + specialty chemicals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Result: Polypropylene import dependency ELIMINATED; Polyethylene 70-80% closed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Pathway 1: Segment-Level Savings by FY30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INDUTECH:  ₹19,920 cr/year ($2.4bn) — BPCL Bina LLDPE @ $150-200/MT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HOMETECH: ₹5,478 cr/year ($0.66bn) — PE/PET cost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MOBILTECH: ₹5,395 cr/year ($0.65bn) — Specialty polymers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BUILDTECH: ₹3,984 cr/year ($0.48bn) — Geotextiles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PACKTECH: ₹2,241 cr/year ($0.27bn) — Export-led growth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TOTAL: ₹50,298–95,450 cr/year (Base to Optimistic)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Pathway 2: Ethanol Blending &amp; Export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🌾 Mechanism: Ethanol blends into petrol pool → vehicles buy more litres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📈 FY30 E27 Scenario (Recommended):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Freed petrol export value: ₹62,300 cr ($7.3bn/year) ← HEADLINE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OMC pump margin on extra volume: ₹1,000 cr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Tax revenue (excise + VAT): ₹11,500 cr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State SGST (5%, price-neutral): ₹4,787 cr ← NEW POLICY LEVER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💰 Total E27 pathway: ₹79,587 cr/year ($9.6bn/year at FY30)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Pathway 3: Renewable Fuels &amp; CBG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🌱 CBG (Compressed Biogas) via SATAT Programme: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Current: 0.5 MMTPA (12-15 plants operating)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FY30 Target: 5 MMTPA (5,000 plants planned)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💨 LNG Import Displacement: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Current LNG imports: ~180 MMTPA equivalent (~₹80,000 cr/year cost)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CBG substitution by FY30: 10-15% (18 MMTPA)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Annual savings: ₹8,000–12,000 crores ($1.0–1.4bn)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🌾 Secondary: Bio-isobutanol (SAF route) ₹2-3k cr/year + Distillery conversion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Consolidated: All Pathways by FY30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│ Petrochemical Feedstocks:      ₹50,000–95,000 cr/year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│ Ethanol &amp; Petrol Export:       ₹12,000–18,000 cr/year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│ Renewable Fuels &amp; CBG:         ₹10,000–14,000 cr/year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│ TOTAL ANNUAL (FY30):           ₹72,000–127,000 cr/year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│                                $8.7–15.3 billion/year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│ REALISTIC MID-POINT:           ₹75,000–95,000 cr/year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│                                $9.0–11.5 billion/year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Investment Required: ₹1,38,514 Crores (~$16.6bn)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Total Government + Private Capex (FY26-FY30):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▪ BPCL Andhra Pradesh:         ₹1,00,000 cr (greenfield 1.8 MMTPA)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▪ RIL Oil-to-Chemicals:        ₹75,000 cr (2.0 MMTPA integrated)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▪ L&amp;T BPCL Bina:               ₹5-10k cr (1.0 MMTPA swing)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▪ BPCL Kochi PP:               ₹5,514 cr (0.15 MMTPA, commissioned)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▪ BHAVYA Chemical Parks:       ₹3,030 cr (3 parks)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▪ Private Sector:              ₹2-5k cr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Expected Payback: 4-6 years post-FY30 | ROI: 15-25%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D5A"/>
                </a:solidFill>
              </a:defRPr>
            </a:pPr>
            <a:r>
              <a:t>Savings vs Current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5A2D"/>
                </a:solidFill>
              </a:defRPr>
            </a:pPr>
            <a:r>
              <a:t>Current (FY25/CY2024)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Total imports: $718.16bn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Trade deficit: $275.45bn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Energy imports: $225.39bn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Oil bill: $160.8bn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Oil net bill: $116.4bn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Textile feedstock: $48.7bn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Forex addition: $10-20bn/yr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61E1E"/>
                </a:solidFill>
              </a:defRPr>
            </a:pPr>
            <a:r>
              <a:t>Import Sub. Savings (FY30)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$9.0–11.5bn/year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$9.0–11.5bn/year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$8.5–9.1bn/year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Partial (feedstock focus)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$7.3–8.5bn/year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$7.8–9.2bn/year</a:t>
            </a:r>
          </a:p>
          <a:p>
            <a:pPr>
              <a:spcBef>
                <a:spcPts val="300"/>
              </a:spcBef>
              <a:defRPr sz="1400">
                <a:solidFill>
                  <a:srgbClr val="282828"/>
                </a:solidFill>
              </a:defRPr>
            </a:pPr>
            <a:r>
              <a:t>$9.0–11.5bn/year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Savings as % of Current Baselines: The Real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🔴 TEXTILE FEEDSTOCK: 16–19% reduction ($7.8–9.2bn saved of $48.7bn)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→ Most impactful sector; polypropylene import dependency ELIMINATED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🔴 NET OIL BILL: 6.3–7.8% reduction ($7.3–8.5bn of $116.4bn)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→ Most visible oil-sector leverage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🟡 TOTAL TRADE DEFICIT: 3.3–4.2% improvement ($9.0–11.5bn of $275.45bn)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→ Modest as % of deficit, but real structural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🟡 TOTAL IMPORTS: 1.3–1.6% reduction ($9.0–11.5bn of $718.16bn)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→ Small percentage, large absolute value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Forex Reserves: The Strategic Multiplier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Current Forex Reserves: ~$645–650bn (world's 4th largest)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Typical Annual Addition: $10–20bn/year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Import Substitution Contribution (FY30):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Annual forex contribution: $9.0–11.5bn/year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As % of typical annual addition: 45–115% ← EQUALS 1-2 years of normal growth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5-Year Cumulative (FY26-FY30): $30–36 billion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As % of typical 5-year addition ($50-100bn): 30–60%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Makes forex generation MORE RESILIENT (less dependent on volatile FDI/portfolio)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Critical Path: FY26-FY30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🔴 Q3-FY27: BPCL Andhra Pradesh cracker commissioning (load-bearing)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🔴 FY28-29: L&amp;T Bina + RIL O2C ramp-up (40-50% of savings hinge here)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🟠 FY26-27: BHAVYA Parks site finalization + State SGST policy coordination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🟠 FY26-FY30: SATAT CBG deployment (500+ plants needed for full benefit)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🟡 FY29-30: Full run-rate capacity online; import duty escalation (10%→20%)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Top 5 Execution 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1️⃣ Refinery capex delays (BPCL/RIL) → Allocate ₹5k cr risk capital; fast-track approvals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2️⃣ Crude &lt; $60/bbl (uneconomical) → Hedging instruments; floor pricing guardrails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3️⃣ Ethanol feedstock scarcity → Diversify (maize→FCI rice→molasses→stalk)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4️⃣ China polyester dumping → Anti-dumping duties if domestic capacity idles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5️⃣ State SGST coordination → Price-neutral design (₹4,787 cr new state revenue)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Policy Enablers for FY26-FY30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IMMEDIATE (FY26-27):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BHAVYA Parks site finalization + ₹500 cr release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BPCL AP environmental clearance + construction start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State SGST @ 5% on ethanol (price-neutral model)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MID-TERM (FY27-29):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BPCL Kochi PP commissioning (trials → production)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L&amp;T Bina full construction + supplier contracts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RIL O2C construction launch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FINAL (FY29-30):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Import duty escalation (10%→20% on polymers, gradual)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Final Verdict: Structural Stabilizer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IS: A multi-year, structural import reduction + export enabler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Saves $9–11.5bn/year by FY30 in real import + export terms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Concentrates in textiles (16-19% feedstock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Builds forex resilience (less dependent on volatile FDI)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❌ IS NOT: A silver bullet for trade deficit or forex crisis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✗ Only 3-4% improvement in $275bn trade deficit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✗ Only 1-3% of total imports; requires other levers too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BEST USE: Pair with merchandise export growth + service sector + FDI + remittances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E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2D5A"/>
                </a:solidFill>
              </a:defRPr>
            </a:pPr>
            <a:r>
              <a:t>Next Steps: Execution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Lock in capex: BPCL AP, RIL O2C, L&amp;T Bina (non-negotiable)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Fast-track policy: State SGST design, import duties, anti-dumping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Coordinate across ministries: Textiles, DPIIT, Petroleum, Finance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4. Track quarterly: Capex progress, commissioning, import reductions, forex additions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5. Adjust for risks: Capex delays, crude prices, feedstock availability, global demand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